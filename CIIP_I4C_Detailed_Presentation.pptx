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CIIP: Cyber Intelligence &amp; Investigation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Next-Generation Digital Forensics Hub for I4C</a:t>
            </a:r>
          </a:p>
          <a:p/>
          <a:p>
            <a:r>
              <a:t>Presented by: Aegis Forensics Monk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The Challenge in Modern Cyber Investigations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400"/>
            </a:pPr>
            <a:r>
              <a:t>Fragmented Investigative Tools:</a:t>
            </a:r>
          </a:p>
          <a:p>
            <a:pPr lvl="1">
              <a:defRPr sz="2000"/>
            </a:pPr>
            <a:r>
              <a:t>Investigators juggle disjointed software for OSINT, IPDR, and Malware analysis, leading to context switching and lost intelligence.</a:t>
            </a:r>
          </a:p>
          <a:p>
            <a:pPr>
              <a:defRPr b="1" sz="2400"/>
            </a:pPr>
            <a:r>
              <a:t>Chain of Custody Risks:</a:t>
            </a:r>
          </a:p>
          <a:p>
            <a:pPr lvl="1">
              <a:defRPr sz="2000"/>
            </a:pPr>
            <a:r>
              <a:t>Maintaining strict, legally admissible chain of custody across massive digital evidence sets is highly prone to manual errors.</a:t>
            </a:r>
          </a:p>
          <a:p>
            <a:pPr>
              <a:defRPr b="1" sz="2400"/>
            </a:pPr>
            <a:r>
              <a:t>Reporting Bottlenecks:</a:t>
            </a:r>
          </a:p>
          <a:p>
            <a:pPr lvl="1">
              <a:defRPr sz="2000"/>
            </a:pPr>
            <a:r>
              <a:t>Drafting comprehensive, court-ready forensic reports consumes hours that should be spent on active investigation.</a:t>
            </a:r>
          </a:p>
          <a:p>
            <a:pPr>
              <a:defRPr b="1" sz="2400"/>
            </a:pPr>
            <a:r>
              <a:t>Data Overload &amp; Silos:</a:t>
            </a:r>
          </a:p>
          <a:p>
            <a:pPr lvl="1">
              <a:defRPr sz="2000"/>
            </a:pPr>
            <a:r>
              <a:t>Correlating disparate datasets (IPs, Call Data Records, Cryptocurrency hashes) without automated visualization is highly inefficient.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The Solution: Introducing CIIP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400"/>
            </a:pPr>
            <a:r>
              <a:t>Unified Intelligence Dashboard:</a:t>
            </a:r>
          </a:p>
          <a:p>
            <a:pPr lvl="1">
              <a:defRPr sz="2000"/>
            </a:pPr>
            <a:r>
              <a:t>A single, cohesive platform combining OSINT, IPDR tracking, and Ransomware analysis into one intuitive interface.</a:t>
            </a:r>
          </a:p>
          <a:p>
            <a:pPr>
              <a:defRPr b="1" sz="2400"/>
            </a:pPr>
            <a:r>
              <a:t>Built for Law Enforcement:</a:t>
            </a:r>
          </a:p>
          <a:p>
            <a:pPr lvl="1">
              <a:defRPr sz="2000"/>
            </a:pPr>
            <a:r>
              <a:t>Designed specifically around the operational needs and legal constraints of authorized investigators.</a:t>
            </a:r>
          </a:p>
          <a:p>
            <a:pPr>
              <a:defRPr b="1" sz="2400"/>
            </a:pPr>
            <a:r>
              <a:t>Security &amp; Integrity First:</a:t>
            </a:r>
          </a:p>
          <a:p>
            <a:pPr lvl="1">
              <a:defRPr sz="2000"/>
            </a:pPr>
            <a:r>
              <a:t>Engineered from the ground up to ensure absolute evidence admissibility and platform security.</a:t>
            </a:r>
          </a:p>
          <a:p>
            <a:pPr>
              <a:defRPr b="1" sz="2400"/>
            </a:pPr>
            <a:r>
              <a:t>Force Multiplier:</a:t>
            </a:r>
          </a:p>
          <a:p>
            <a:pPr lvl="1">
              <a:defRPr sz="2000"/>
            </a:pPr>
            <a:r>
              <a:t>Acts as a centralized hub that accelerates investigations and drastically reduces case turnaround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Core Investigative Modules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400"/>
            </a:pPr>
            <a:r>
              <a:t>Advanced OSINT Lab:</a:t>
            </a:r>
          </a:p>
          <a:p>
            <a:pPr lvl="1">
              <a:defRPr sz="2000"/>
            </a:pPr>
            <a:r>
              <a:t>Automated open-source intelligence gathering for IPs, Domains, Emails, and Hashes.</a:t>
            </a:r>
          </a:p>
          <a:p>
            <a:pPr lvl="1">
              <a:defRPr sz="2000"/>
            </a:pPr>
            <a:r>
              <a:t>Includes automated confidence scoring to prioritize high-value leads.</a:t>
            </a:r>
          </a:p>
          <a:p>
            <a:pPr>
              <a:defRPr b="1" sz="2400"/>
            </a:pPr>
            <a:r>
              <a:t>IPDR / CDR Analyzer:</a:t>
            </a:r>
          </a:p>
          <a:p>
            <a:pPr lvl="1">
              <a:defRPr sz="2000"/>
            </a:pPr>
            <a:r>
              <a:t>In-depth analysis of IP Detail Records and Call Data Records.</a:t>
            </a:r>
          </a:p>
          <a:p>
            <a:pPr lvl="1">
              <a:defRPr sz="2000"/>
            </a:pPr>
            <a:r>
              <a:t>Detects communication patterns, frequencies, and maps suspect geolocations automatically.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Core Investigative Modules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400"/>
            </a:pPr>
            <a:r>
              <a:t>Ransomware Analysis Lab:</a:t>
            </a:r>
          </a:p>
          <a:p>
            <a:pPr lvl="1">
              <a:defRPr sz="2000"/>
            </a:pPr>
            <a:r>
              <a:t>Dedicated secure environment for IOC (Indicators of Compromise) extraction and analysis.</a:t>
            </a:r>
          </a:p>
          <a:p>
            <a:pPr lvl="1">
              <a:defRPr sz="2000"/>
            </a:pPr>
            <a:r>
              <a:t>Active tracking of ransomware threats and related artifacts.</a:t>
            </a:r>
          </a:p>
          <a:p>
            <a:pPr>
              <a:defRPr b="1" sz="2400"/>
            </a:pPr>
            <a:r>
              <a:t>Interactive Case Management:</a:t>
            </a:r>
          </a:p>
          <a:p>
            <a:pPr lvl="1">
              <a:defRPr sz="2000"/>
            </a:pPr>
            <a:r>
              <a:t>Real-time intelligence overview with active case tracking.</a:t>
            </a:r>
          </a:p>
          <a:p>
            <a:pPr lvl="1">
              <a:defRPr sz="2000"/>
            </a:pPr>
            <a:r>
              <a:t>Visual Timelines and Entity Relationship Graphs (via Cytoscape.js) to map criminal networks.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Unbreakable Chain of Custody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400"/>
            </a:pPr>
            <a:r>
              <a:t>Immutable Evidence Vault:</a:t>
            </a:r>
          </a:p>
          <a:p>
            <a:pPr lvl="1">
              <a:defRPr sz="2000"/>
            </a:pPr>
            <a:r>
              <a:t>Evidence cannot be altered or deleted (soft-delete only policies applied).</a:t>
            </a:r>
          </a:p>
          <a:p>
            <a:pPr>
              <a:defRPr b="1" sz="2400"/>
            </a:pPr>
            <a:r>
              <a:t>Automated Cryptographic Hashing:</a:t>
            </a:r>
          </a:p>
          <a:p>
            <a:pPr lvl="1">
              <a:defRPr sz="2000"/>
            </a:pPr>
            <a:r>
              <a:t>SHA-256 hashes are automatically computed the moment evidence is uploaded.</a:t>
            </a:r>
          </a:p>
          <a:p>
            <a:pPr>
              <a:defRPr b="1" sz="2400"/>
            </a:pPr>
            <a:r>
              <a:t>Tamper-Proof Audit Trails:</a:t>
            </a:r>
          </a:p>
          <a:p>
            <a:pPr lvl="1">
              <a:defRPr sz="2000"/>
            </a:pPr>
            <a:r>
              <a:t>Database-level triggers in PostgreSQL guarantee audit logs cannot be modified, bypassing application-level vulnerabilities.</a:t>
            </a:r>
          </a:p>
          <a:p>
            <a:pPr>
              <a:defRPr b="1" sz="2400"/>
            </a:pPr>
            <a:r>
              <a:t>Strict Role-Based Access Control (RBAC):</a:t>
            </a:r>
          </a:p>
          <a:p>
            <a:pPr lvl="1">
              <a:defRPr sz="2000"/>
            </a:pPr>
            <a:r>
              <a:t>Granular permissions (Admin, Investigator, Analyst, Supervisor) secured via JWT.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AI-Assisted Intelligence &amp; Reporting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400"/>
            </a:pPr>
            <a:r>
              <a:t>Automated Report Drafting:</a:t>
            </a:r>
          </a:p>
          <a:p>
            <a:pPr lvl="1">
              <a:defRPr sz="2000"/>
            </a:pPr>
            <a:r>
              <a:t>Utilizes advanced AI (OpenAI-compatible or secure Local LLM) to instantly generate template-based forensic reports.</a:t>
            </a:r>
          </a:p>
          <a:p>
            <a:pPr>
              <a:defRPr b="1" sz="2400"/>
            </a:pPr>
            <a:r>
              <a:t>Complex Data Summarization:</a:t>
            </a:r>
          </a:p>
          <a:p>
            <a:pPr lvl="1">
              <a:defRPr sz="2000"/>
            </a:pPr>
            <a:r>
              <a:t>AI synthesizes timelines, evidence correlations, and massive datasets into digestible executive summaries.</a:t>
            </a:r>
          </a:p>
          <a:p>
            <a:pPr>
              <a:defRPr b="1" sz="2400"/>
            </a:pPr>
            <a:r>
              <a:t>Strict Advisory Guardrails:</a:t>
            </a:r>
          </a:p>
          <a:p>
            <a:pPr lvl="1">
              <a:defRPr sz="2000"/>
            </a:pPr>
            <a:r>
              <a:t>All AI outputs are clearly flagged as 'Advisory'.</a:t>
            </a:r>
          </a:p>
          <a:p>
            <a:pPr lvl="1">
              <a:defRPr sz="2000"/>
            </a:pPr>
            <a:r>
              <a:t>The human investigator always remains the final authority, ensuring judicial standards are never compromised.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Robust &amp; Scalable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400"/>
            </a:pPr>
            <a:r>
              <a:t>Frontend (The Interface):</a:t>
            </a:r>
          </a:p>
          <a:p>
            <a:pPr lvl="1">
              <a:defRPr sz="2000"/>
            </a:pPr>
            <a:r>
              <a:t>Next.js 14+ (React) with Tailwind CSS for a modern, responsive UI.</a:t>
            </a:r>
          </a:p>
          <a:p>
            <a:pPr lvl="1">
              <a:defRPr sz="2000"/>
            </a:pPr>
            <a:r>
              <a:t>Integrated mapping (Leaflet) and graphing tools.</a:t>
            </a:r>
          </a:p>
          <a:p>
            <a:pPr>
              <a:defRPr b="1" sz="2400"/>
            </a:pPr>
            <a:r>
              <a:t>Backend (The Brain):</a:t>
            </a:r>
          </a:p>
          <a:p>
            <a:pPr lvl="1">
              <a:defRPr sz="2000"/>
            </a:pPr>
            <a:r>
              <a:t>High-performance Python FastAPI handling secure REST endpoints.</a:t>
            </a:r>
          </a:p>
          <a:p>
            <a:pPr lvl="1">
              <a:defRPr sz="2000"/>
            </a:pPr>
            <a:r>
              <a:t>Asynchronous background task processing via RabbitMQ.</a:t>
            </a:r>
          </a:p>
          <a:p>
            <a:pPr>
              <a:defRPr b="1" sz="2400"/>
            </a:pPr>
            <a:r>
              <a:t>Infrastructure (The Engine Room):</a:t>
            </a:r>
          </a:p>
          <a:p>
            <a:pPr lvl="1">
              <a:defRPr sz="2000"/>
            </a:pPr>
            <a:r>
              <a:t>PostgreSQL 16: Immutable structured data storage.</a:t>
            </a:r>
          </a:p>
          <a:p>
            <a:pPr lvl="1">
              <a:defRPr sz="2000"/>
            </a:pPr>
            <a:r>
              <a:t>Neo4j: Graph database for suspect/IP relationship mapping.</a:t>
            </a:r>
          </a:p>
          <a:p>
            <a:pPr lvl="1">
              <a:defRPr sz="2000"/>
            </a:pPr>
            <a:r>
              <a:t>Elasticsearch 8 &amp; MinIO: Lightning-fast search and secure S3-compatible evidence storage.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Deployment &amp; Operational Readiness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400"/>
            </a:pPr>
            <a:r>
              <a:t>Fully Containerized Environment:</a:t>
            </a:r>
          </a:p>
          <a:p>
            <a:pPr lvl="1">
              <a:defRPr sz="2000"/>
            </a:pPr>
            <a:r>
              <a:t>The entire stack is containerized using Docker.</a:t>
            </a:r>
          </a:p>
          <a:p>
            <a:pPr>
              <a:defRPr b="1" sz="2400"/>
            </a:pPr>
            <a:r>
              <a:t>Rapid &amp; Standardized Deployment:</a:t>
            </a:r>
          </a:p>
          <a:p>
            <a:pPr lvl="1">
              <a:defRPr sz="2000"/>
            </a:pPr>
            <a:r>
              <a:t>Can be spun up in minutes using 'docker-compose up -d'.</a:t>
            </a:r>
          </a:p>
          <a:p>
            <a:pPr>
              <a:defRPr b="1" sz="2400"/>
            </a:pPr>
            <a:r>
              <a:t>Air-Gapped Network Capable:</a:t>
            </a:r>
          </a:p>
          <a:p>
            <a:pPr lvl="1">
              <a:defRPr sz="2000"/>
            </a:pPr>
            <a:r>
              <a:t>Architecture is designed to function seamlessly within highly secure, isolated law enforcement networks.</a:t>
            </a:r>
          </a:p>
          <a:p>
            <a:pPr>
              <a:defRPr b="1" sz="2400"/>
            </a:pPr>
            <a:r>
              <a:t>Highly Scalable:</a:t>
            </a:r>
          </a:p>
          <a:p>
            <a:pPr lvl="1">
              <a:defRPr sz="2000"/>
            </a:pPr>
            <a:r>
              <a:t>Built to scale from a local precinct deployment to a centralized national database.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Why CIIP is the Ideal Fit for I4C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400"/>
            </a:pPr>
            <a:r>
              <a:t>Centralized Cyber Intelligence:</a:t>
            </a:r>
          </a:p>
          <a:p>
            <a:pPr lvl="1">
              <a:defRPr sz="2000"/>
            </a:pPr>
            <a:r>
              <a:t>Perfectly aligns with I4C's mandate to coordinate complex cybercrime investigations across states.</a:t>
            </a:r>
          </a:p>
          <a:p>
            <a:pPr>
              <a:defRPr b="1" sz="2400"/>
            </a:pPr>
            <a:r>
              <a:t>Efficiency Multiplier:</a:t>
            </a:r>
          </a:p>
          <a:p>
            <a:pPr lvl="1">
              <a:defRPr sz="2000"/>
            </a:pPr>
            <a:r>
              <a:t>Drastically reduces the timeline from evidence collection to actionable intelligence.</a:t>
            </a:r>
          </a:p>
          <a:p>
            <a:pPr>
              <a:defRPr b="1" sz="2400"/>
            </a:pPr>
            <a:r>
              <a:t>Guaranteed Court-Ready Evidence:</a:t>
            </a:r>
          </a:p>
          <a:p>
            <a:pPr lvl="1">
              <a:defRPr sz="2000"/>
            </a:pPr>
            <a:r>
              <a:t>Ensures all digital artifacts meet the rigorous legal standards of the Indian judicial system.</a:t>
            </a:r>
          </a:p>
          <a:p>
            <a:pPr>
              <a:defRPr b="1" sz="2400"/>
            </a:pPr>
            <a:r>
              <a:t>Future-Proof Investigation Platform:</a:t>
            </a:r>
          </a:p>
          <a:p>
            <a:pPr lvl="1">
              <a:defRPr sz="2000"/>
            </a:pPr>
            <a:r>
              <a:t>Seamlessly integrates cutting-edge AI while maintaining traditional forensic rigor.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Conclusion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0" sz="2400"/>
            </a:pPr>
            <a:r>
              <a:t>Thank You for Your Time</a:t>
            </a:r>
          </a:p>
          <a:p>
            <a:pPr lvl="1">
              <a:defRPr sz="2000"/>
            </a:pPr>
            <a:r>
              <a:t>Opening the floor for Questions.</a:t>
            </a:r>
          </a:p>
          <a:p>
            <a:pPr>
              <a:defRPr b="0" sz="2400"/>
            </a:pPr>
            <a:r>
              <a:t>Live Demonstration Available</a:t>
            </a:r>
          </a:p>
          <a:p>
            <a:pPr lvl="1">
              <a:defRPr sz="2000"/>
            </a:pPr>
            <a:r>
              <a:t>We can now showcase a live walkthrough of the CIIP dashboard, OSINT Lab, and Evidence Vault.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